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4" r:id="rId7"/>
    <p:sldId id="267" r:id="rId8"/>
    <p:sldId id="268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B7FF"/>
    <a:srgbClr val="1F4E79"/>
    <a:srgbClr val="9C7BF0"/>
    <a:srgbClr val="6B68F7"/>
    <a:srgbClr val="AE80ED"/>
    <a:srgbClr val="EA9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4" autoAdjust="0"/>
  </p:normalViewPr>
  <p:slideViewPr>
    <p:cSldViewPr snapToGrid="0">
      <p:cViewPr>
        <p:scale>
          <a:sx n="100" d="100"/>
          <a:sy n="100" d="100"/>
        </p:scale>
        <p:origin x="954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2552B-E2CD-4C0E-9D5D-A046077A838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F8CF2-05AC-41D4-B090-37FD74894FA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1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6" Type="http://schemas.openxmlformats.org/officeDocument/2006/relationships/slideLayout" Target="../slideLayouts/slideLayout2.xml"/><Relationship Id="rId15" Type="http://schemas.openxmlformats.org/officeDocument/2006/relationships/slide" Target="slide17.xml"/><Relationship Id="rId14" Type="http://schemas.openxmlformats.org/officeDocument/2006/relationships/slide" Target="slide16.xml"/><Relationship Id="rId13" Type="http://schemas.openxmlformats.org/officeDocument/2006/relationships/slide" Target="slide3.xml"/><Relationship Id="rId12" Type="http://schemas.openxmlformats.org/officeDocument/2006/relationships/slide" Target="slide14.xml"/><Relationship Id="rId11" Type="http://schemas.openxmlformats.org/officeDocument/2006/relationships/slide" Target="slide13.xml"/><Relationship Id="rId10" Type="http://schemas.openxmlformats.org/officeDocument/2006/relationships/slide" Target="slide12.xml"/><Relationship Id="rId1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6" Type="http://schemas.openxmlformats.org/officeDocument/2006/relationships/slide" Target="slide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slide" Target="slide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slide" Target="slide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slide" Target="slide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png"/><Relationship Id="rId3" Type="http://schemas.openxmlformats.org/officeDocument/2006/relationships/slide" Target="slide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slide" Target="slide2.xml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slide" Target="slide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448800" cy="118696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+mn-lt"/>
                <a:ea typeface="Fraunces Extra Bold" pitchFamily="34" charset="-122"/>
                <a:cs typeface="+mn-lt"/>
              </a:rPr>
              <a:t>Ликино-Дулевский политехнический колледж – филиал ГОУ </a:t>
            </a:r>
            <a:br>
              <a:rPr lang="ru-RU" sz="1600" b="1" dirty="0">
                <a:solidFill>
                  <a:schemeClr val="bg1"/>
                </a:solidFill>
                <a:latin typeface="+mn-lt"/>
                <a:ea typeface="Fraunces Extra Bold" pitchFamily="34" charset="-122"/>
                <a:cs typeface="+mn-lt"/>
              </a:rPr>
            </a:br>
            <a:r>
              <a:rPr lang="ru-RU" sz="1600" b="1" dirty="0">
                <a:solidFill>
                  <a:schemeClr val="bg1"/>
                </a:solidFill>
                <a:latin typeface="+mn-lt"/>
                <a:ea typeface="Fraunces Extra Bold" pitchFamily="34" charset="-122"/>
                <a:cs typeface="+mn-lt"/>
              </a:rPr>
              <a:t>ВО МО Государственное образовательное учреждение</a:t>
            </a:r>
            <a:br>
              <a:rPr lang="ru-RU" sz="1600" b="1" dirty="0">
                <a:solidFill>
                  <a:schemeClr val="bg1"/>
                </a:solidFill>
                <a:latin typeface="+mn-lt"/>
                <a:ea typeface="Fraunces Extra Bold" pitchFamily="34" charset="-122"/>
                <a:cs typeface="+mn-lt"/>
              </a:rPr>
            </a:br>
            <a:r>
              <a:rPr lang="ru-RU" sz="1600" b="1" dirty="0">
                <a:solidFill>
                  <a:schemeClr val="bg1"/>
                </a:solidFill>
                <a:latin typeface="+mn-lt"/>
                <a:ea typeface="Fraunces Extra Bold" pitchFamily="34" charset="-122"/>
                <a:cs typeface="+mn-lt"/>
              </a:rPr>
              <a:t>высшего образования Московской </a:t>
            </a:r>
            <a:r>
              <a:rPr lang="ru-RU" sz="1600" b="1" dirty="0" smtClean="0">
                <a:solidFill>
                  <a:schemeClr val="bg1"/>
                </a:solidFill>
                <a:latin typeface="+mn-lt"/>
                <a:ea typeface="Fraunces Extra Bold" pitchFamily="34" charset="-122"/>
                <a:cs typeface="+mn-lt"/>
              </a:rPr>
              <a:t>области</a:t>
            </a:r>
            <a:endParaRPr lang="ru-RU" sz="1600" b="1" dirty="0" smtClean="0">
              <a:solidFill>
                <a:schemeClr val="bg1"/>
              </a:solidFill>
              <a:latin typeface="+mn-lt"/>
              <a:ea typeface="Fraunces Extra Bold" pitchFamily="34" charset="-122"/>
              <a:cs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390775"/>
            <a:ext cx="9144000" cy="1398905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cs typeface="+mn-lt"/>
                <a:sym typeface="+mn-ea"/>
              </a:rPr>
              <a:t>09.02.07 УП.11 2</a:t>
            </a:r>
            <a:r>
              <a:rPr lang="en-US" altLang="ru-RU" sz="2800" b="1" dirty="0" smtClean="0">
                <a:solidFill>
                  <a:schemeClr val="bg1"/>
                </a:solidFill>
                <a:cs typeface="+mn-lt"/>
                <a:sym typeface="+mn-ea"/>
              </a:rPr>
              <a:t>4</a:t>
            </a:r>
            <a:endParaRPr lang="ru-RU" sz="2800" b="1" dirty="0">
              <a:solidFill>
                <a:schemeClr val="bg1"/>
              </a:solidFill>
              <a:ea typeface="Fraunces Extra Bold" pitchFamily="34" charset="-122"/>
              <a:cs typeface="+mn-lt"/>
            </a:endParaRPr>
          </a:p>
          <a:p>
            <a:r>
              <a:rPr lang="ru-RU" sz="2800" b="1" dirty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Тема</a:t>
            </a:r>
            <a:r>
              <a:rPr lang="ru-RU" sz="2800" b="1" dirty="0" smtClean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: Разработка системы автоматизации тестирования в колледже</a:t>
            </a:r>
            <a:endParaRPr lang="ru-RU" sz="2800" b="1" dirty="0" smtClean="0">
              <a:solidFill>
                <a:schemeClr val="bg1"/>
              </a:solidFill>
              <a:ea typeface="Fraunces Extra Bold" pitchFamily="34" charset="-122"/>
              <a:cs typeface="+mn-lt"/>
            </a:endParaRPr>
          </a:p>
        </p:txBody>
      </p:sp>
      <p:sp>
        <p:nvSpPr>
          <p:cNvPr id="4" name="Text 6"/>
          <p:cNvSpPr/>
          <p:nvPr/>
        </p:nvSpPr>
        <p:spPr>
          <a:xfrm>
            <a:off x="7658735" y="4439285"/>
            <a:ext cx="4351655" cy="1223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ru-RU" b="1" dirty="0" smtClean="0">
                <a:solidFill>
                  <a:schemeClr val="bg1"/>
                </a:solidFill>
                <a:ea typeface="Nobile" pitchFamily="34" charset="-122"/>
                <a:cs typeface="+mn-lt"/>
              </a:rPr>
              <a:t>Выполнил</a:t>
            </a:r>
            <a:r>
              <a:rPr lang="en-US" b="1" dirty="0" smtClean="0">
                <a:solidFill>
                  <a:schemeClr val="bg1"/>
                </a:solidFill>
                <a:ea typeface="Nobile" pitchFamily="34" charset="-122"/>
                <a:cs typeface="+mn-lt"/>
              </a:rPr>
              <a:t>:</a:t>
            </a:r>
            <a:r>
              <a:rPr lang="en-US" dirty="0" smtClean="0">
                <a:solidFill>
                  <a:schemeClr val="bg1"/>
                </a:solidFill>
                <a:ea typeface="Nobile" pitchFamily="34" charset="-122"/>
                <a:cs typeface="+mn-lt"/>
              </a:rPr>
              <a:t> </a:t>
            </a:r>
            <a:r>
              <a:rPr lang="ru-RU" dirty="0" smtClean="0">
                <a:solidFill>
                  <a:schemeClr val="bg1"/>
                </a:solidFill>
                <a:ea typeface="Nobile" pitchFamily="34" charset="-122"/>
                <a:cs typeface="+mn-lt"/>
              </a:rPr>
              <a:t>Шумов Владислав Михайлович</a:t>
            </a:r>
            <a:endParaRPr lang="ru-RU" dirty="0">
              <a:solidFill>
                <a:schemeClr val="bg1"/>
              </a:solidFill>
              <a:ea typeface="Nobile" pitchFamily="34" charset="-122"/>
              <a:cs typeface="+mn-lt"/>
            </a:endParaRPr>
          </a:p>
          <a:p>
            <a:pPr marL="0" indent="0" algn="r">
              <a:buNone/>
            </a:pPr>
            <a:r>
              <a:rPr lang="en-US" b="1" dirty="0">
                <a:solidFill>
                  <a:schemeClr val="bg1"/>
                </a:solidFill>
                <a:ea typeface="Nobile" pitchFamily="34" charset="-122"/>
                <a:cs typeface="+mn-lt"/>
              </a:rPr>
              <a:t>Г</a:t>
            </a:r>
            <a:r>
              <a:rPr lang="ru-RU" b="1" dirty="0">
                <a:solidFill>
                  <a:schemeClr val="bg1"/>
                </a:solidFill>
                <a:ea typeface="Nobile" pitchFamily="34" charset="-122"/>
                <a:cs typeface="+mn-lt"/>
              </a:rPr>
              <a:t>руппа</a:t>
            </a:r>
            <a:r>
              <a:rPr lang="en-US" b="1" dirty="0">
                <a:solidFill>
                  <a:schemeClr val="bg1"/>
                </a:solidFill>
                <a:ea typeface="Nobile" pitchFamily="34" charset="-122"/>
                <a:cs typeface="+mn-lt"/>
              </a:rPr>
              <a:t>:</a:t>
            </a:r>
            <a:r>
              <a:rPr lang="en-US" dirty="0">
                <a:solidFill>
                  <a:schemeClr val="bg1"/>
                </a:solidFill>
                <a:ea typeface="Nobile" pitchFamily="34" charset="-122"/>
                <a:cs typeface="+mn-lt"/>
              </a:rPr>
              <a:t> </a:t>
            </a:r>
            <a:r>
              <a:rPr lang="ru-RU" dirty="0">
                <a:solidFill>
                  <a:schemeClr val="bg1"/>
                </a:solidFill>
                <a:ea typeface="Nobile" pitchFamily="34" charset="-122"/>
                <a:cs typeface="+mn-lt"/>
              </a:rPr>
              <a:t>ИСП.23.1А</a:t>
            </a:r>
            <a:endParaRPr lang="ru-RU" dirty="0">
              <a:solidFill>
                <a:schemeClr val="bg1"/>
              </a:solidFill>
              <a:cs typeface="+mn-lt"/>
            </a:endParaRPr>
          </a:p>
          <a:p>
            <a:pPr algn="r"/>
            <a:r>
              <a:rPr lang="ru-RU" b="1" dirty="0">
                <a:solidFill>
                  <a:schemeClr val="bg1"/>
                </a:solidFill>
                <a:ea typeface="Nobile" pitchFamily="34" charset="-122"/>
                <a:cs typeface="+mn-lt"/>
              </a:rPr>
              <a:t>Руководитель: Селиверстова О.М</a:t>
            </a:r>
            <a:r>
              <a:rPr lang="ru-RU" b="1" dirty="0" smtClean="0">
                <a:solidFill>
                  <a:schemeClr val="bg1"/>
                </a:solidFill>
                <a:ea typeface="Nobile" pitchFamily="34" charset="-122"/>
                <a:cs typeface="+mn-lt"/>
              </a:rPr>
              <a:t>.,</a:t>
            </a:r>
            <a:endParaRPr lang="ru-RU" b="1" dirty="0" smtClean="0">
              <a:solidFill>
                <a:schemeClr val="bg1"/>
              </a:solidFill>
              <a:ea typeface="Nobile" pitchFamily="34" charset="-122"/>
              <a:cs typeface="+mn-lt"/>
            </a:endParaRPr>
          </a:p>
          <a:p>
            <a:pPr algn="r"/>
            <a:r>
              <a:rPr lang="ru-RU" b="1" dirty="0" smtClean="0">
                <a:solidFill>
                  <a:schemeClr val="bg1"/>
                </a:solidFill>
                <a:ea typeface="Nobile" pitchFamily="34" charset="-122"/>
                <a:cs typeface="+mn-lt"/>
              </a:rPr>
              <a:t> </a:t>
            </a:r>
            <a:r>
              <a:rPr lang="ru-RU" b="1" dirty="0">
                <a:solidFill>
                  <a:schemeClr val="bg1"/>
                </a:solidFill>
                <a:ea typeface="Nobile" pitchFamily="34" charset="-122"/>
                <a:cs typeface="+mn-lt"/>
              </a:rPr>
              <a:t>Гжегожевский С.В.</a:t>
            </a:r>
            <a:endParaRPr lang="ru-RU" b="1" dirty="0">
              <a:solidFill>
                <a:schemeClr val="bg1"/>
              </a:solidFill>
              <a:ea typeface="Nobile" pitchFamily="34" charset="-122"/>
              <a:cs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114800" y="6311900"/>
            <a:ext cx="3961765" cy="546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550"/>
              </a:lnSpc>
            </a:pPr>
            <a:r>
              <a:rPr lang="ru-RU" b="1" dirty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г</a:t>
            </a:r>
            <a:r>
              <a:rPr lang="ru-RU" b="1" dirty="0" smtClean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. Ликино-Дулево</a:t>
            </a:r>
            <a:r>
              <a:rPr lang="ru-RU" b="1" dirty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, </a:t>
            </a:r>
            <a:r>
              <a:rPr lang="ru-RU" b="1" dirty="0" smtClean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2026г</a:t>
            </a:r>
            <a:r>
              <a:rPr lang="ru-RU" b="1" dirty="0">
                <a:solidFill>
                  <a:schemeClr val="bg1"/>
                </a:solidFill>
                <a:ea typeface="Fraunces Extra Bold" pitchFamily="34" charset="-122"/>
                <a:cs typeface="+mn-lt"/>
              </a:rPr>
              <a:t>.</a:t>
            </a:r>
            <a:endParaRPr lang="ru-RU" b="1" dirty="0">
              <a:solidFill>
                <a:schemeClr val="bg1"/>
              </a:solidFill>
              <a:ea typeface="Fraunces Extra Bold" pitchFamily="34" charset="-122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10039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165" y="635"/>
            <a:ext cx="2554605" cy="10033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Оглавление </a:t>
            </a:r>
            <a:endParaRPr 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4" name="Текстовое поле 3">
            <a:hlinkClick r:id="rId1" action="ppaction://hlinksldjump"/>
          </p:cNvPr>
          <p:cNvSpPr txBox="1"/>
          <p:nvPr/>
        </p:nvSpPr>
        <p:spPr>
          <a:xfrm>
            <a:off x="5520055" y="1241425"/>
            <a:ext cx="36766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13. Создание дашборда</a:t>
            </a:r>
            <a:endParaRPr lang="ru-RU" alt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Текстовое поле 4">
            <a:hlinkClick r:id="rId2" action="ppaction://hlinksldjump"/>
          </p:cNvPr>
          <p:cNvSpPr txBox="1"/>
          <p:nvPr/>
        </p:nvSpPr>
        <p:spPr>
          <a:xfrm>
            <a:off x="304165" y="1701800"/>
            <a:ext cx="401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Функциональный анализ</a:t>
            </a:r>
            <a:endParaRPr lang="ru-RU" alt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Текстовое поле 5">
            <a:hlinkClick r:id="rId3" action="ppaction://hlinksldjump"/>
          </p:cNvPr>
          <p:cNvSpPr txBox="1"/>
          <p:nvPr/>
        </p:nvSpPr>
        <p:spPr>
          <a:xfrm>
            <a:off x="304165" y="2162175"/>
            <a:ext cx="1453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UML</a:t>
            </a:r>
            <a:endParaRPr lang="en-US" alt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Текстовое поле 8">
            <a:hlinkClick r:id="rId4" action="ppaction://hlinksldjump"/>
          </p:cNvPr>
          <p:cNvSpPr txBox="1"/>
          <p:nvPr/>
        </p:nvSpPr>
        <p:spPr>
          <a:xfrm>
            <a:off x="304165" y="2562860"/>
            <a:ext cx="401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ER-</a:t>
            </a:r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Модель базы-данных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Текстовое поле 9">
            <a:hlinkClick r:id="rId5" action="ppaction://hlinksldjump"/>
          </p:cNvPr>
          <p:cNvSpPr txBox="1"/>
          <p:nvPr/>
        </p:nvSpPr>
        <p:spPr>
          <a:xfrm>
            <a:off x="304165" y="2968625"/>
            <a:ext cx="3736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Запросы к базе данных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Текстовое поле 10">
            <a:hlinkClick r:id="rId6" action="ppaction://hlinksldjump"/>
          </p:cNvPr>
          <p:cNvSpPr txBox="1"/>
          <p:nvPr/>
        </p:nvSpPr>
        <p:spPr>
          <a:xfrm>
            <a:off x="304165" y="3423920"/>
            <a:ext cx="4917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 Хранимые функции/процедуры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Текстовое поле 11">
            <a:hlinkClick r:id="rId7" action="ppaction://hlinksldjump"/>
          </p:cNvPr>
          <p:cNvSpPr txBox="1"/>
          <p:nvPr/>
        </p:nvSpPr>
        <p:spPr>
          <a:xfrm>
            <a:off x="304165" y="3884295"/>
            <a:ext cx="1948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7. Триггеры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Текстовое поле 12">
            <a:hlinkClick r:id="rId8" action="ppaction://hlinksldjump"/>
          </p:cNvPr>
          <p:cNvSpPr txBox="1"/>
          <p:nvPr/>
        </p:nvSpPr>
        <p:spPr>
          <a:xfrm>
            <a:off x="304165" y="4284980"/>
            <a:ext cx="2554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 Пользователи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Текстовое поле 13">
            <a:hlinkClick r:id="rId9" action="ppaction://hlinksldjump"/>
          </p:cNvPr>
          <p:cNvSpPr txBox="1"/>
          <p:nvPr/>
        </p:nvSpPr>
        <p:spPr>
          <a:xfrm>
            <a:off x="304165" y="4695825"/>
            <a:ext cx="35579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Графовая база данных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Текстовое поле 14">
            <a:hlinkClick r:id="rId10" action="ppaction://hlinksldjump"/>
          </p:cNvPr>
          <p:cNvSpPr txBox="1"/>
          <p:nvPr/>
        </p:nvSpPr>
        <p:spPr>
          <a:xfrm>
            <a:off x="304165" y="5146040"/>
            <a:ext cx="521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 Запросы к графовой базе данных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Текстовое поле 15">
            <a:hlinkClick r:id="rId11" action="ppaction://hlinksldjump"/>
          </p:cNvPr>
          <p:cNvSpPr txBox="1"/>
          <p:nvPr/>
        </p:nvSpPr>
        <p:spPr>
          <a:xfrm>
            <a:off x="304165" y="5601335"/>
            <a:ext cx="5314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11. Создание визуализаций (1)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Текстовое поле 16">
            <a:hlinkClick r:id="rId12" action="ppaction://hlinksldjump"/>
          </p:cNvPr>
          <p:cNvSpPr txBox="1"/>
          <p:nvPr/>
        </p:nvSpPr>
        <p:spPr>
          <a:xfrm>
            <a:off x="304165" y="6066790"/>
            <a:ext cx="5215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12. Создание визуализаций (2)</a:t>
            </a:r>
            <a:endParaRPr 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Текстовое поле 17">
            <a:hlinkClick r:id="rId13" action="ppaction://hlinksldjump"/>
          </p:cNvPr>
          <p:cNvSpPr txBox="1"/>
          <p:nvPr/>
        </p:nvSpPr>
        <p:spPr>
          <a:xfrm>
            <a:off x="304165" y="1241425"/>
            <a:ext cx="3220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Постановка задачи</a:t>
            </a:r>
            <a:endParaRPr lang="ru-RU" alt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Текстовое поле 18">
            <a:hlinkClick r:id="rId14" action="ppaction://hlinksldjump"/>
          </p:cNvPr>
          <p:cNvSpPr txBox="1"/>
          <p:nvPr/>
        </p:nvSpPr>
        <p:spPr>
          <a:xfrm>
            <a:off x="5520055" y="1701800"/>
            <a:ext cx="5344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14. Работа с параметрами и расчетами</a:t>
            </a:r>
            <a:endParaRPr lang="ru-RU" alt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Текстовое поле 19">
            <a:hlinkClick r:id="rId15" action="ppaction://hlinksldjump"/>
          </p:cNvPr>
          <p:cNvSpPr txBox="1"/>
          <p:nvPr/>
        </p:nvSpPr>
        <p:spPr>
          <a:xfrm>
            <a:off x="5520055" y="2162175"/>
            <a:ext cx="5344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 Заключение</a:t>
            </a:r>
            <a:endParaRPr lang="ru-RU" altLang="ru-RU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10039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4485" y="0"/>
            <a:ext cx="4361180" cy="100457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Постановка задачи</a:t>
            </a:r>
            <a:endParaRPr lang="ru-RU" alt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7" name="Объект 6"/>
          <p:cNvSpPr>
            <a:spLocks noGrp="1"/>
          </p:cNvSpPr>
          <p:nvPr>
            <p:ph sz="half" idx="1"/>
          </p:nvPr>
        </p:nvSpPr>
        <p:spPr>
          <a:xfrm>
            <a:off x="147320" y="2945765"/>
            <a:ext cx="11680190" cy="351663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Цель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: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Разработать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автоматизированную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информационную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систему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тестирования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,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которая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обеспечит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:</a:t>
            </a:r>
            <a:endParaRPr lang="en-US" alt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1)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Минимизацию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ошибок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при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проверке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ответов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endParaRPr lang="en-US" alt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2)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Повышение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качества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обучения</a:t>
            </a:r>
            <a:endParaRPr lang="en-US" alt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3)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Прозрачность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учебного</a:t>
            </a:r>
            <a:r>
              <a:rPr lang="en-US" alt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 </a:t>
            </a:r>
            <a:r>
              <a:rPr lang="en-US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lt"/>
              </a:rPr>
              <a:t>процесса</a:t>
            </a:r>
            <a:endParaRPr lang="en-US" altLang="ru-R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ru-RU" alt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lt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147320" y="1101090"/>
            <a:ext cx="11822430" cy="1522730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В условиях роста объемов учебной информации и количества обучающихся </a:t>
            </a:r>
            <a:r>
              <a:rPr lang="ru-RU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к</a:t>
            </a:r>
            <a:r>
              <a:rPr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олледжу необходим инструмент, который </a:t>
            </a:r>
            <a:r>
              <a:rPr lang="ru-RU" sz="2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автоматизирует процесс проведения тестирования</a:t>
            </a:r>
            <a:endParaRPr lang="ru-RU" sz="28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270" y="2623820"/>
            <a:ext cx="12190730" cy="1511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grpSp>
        <p:nvGrpSpPr>
          <p:cNvPr id="10" name="Группа 9"/>
          <p:cNvGrpSpPr/>
          <p:nvPr/>
        </p:nvGrpSpPr>
        <p:grpSpPr>
          <a:xfrm>
            <a:off x="11281410" y="24892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10039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235" y="0"/>
            <a:ext cx="10515600" cy="100393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Функциональный анализ</a:t>
            </a:r>
            <a:endParaRPr lang="ru-RU" alt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11" name="Рисунок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7485" y="1081405"/>
            <a:ext cx="5074285" cy="2270125"/>
          </a:xfrm>
          <a:prstGeom prst="rect">
            <a:avLst/>
          </a:prstGeom>
        </p:spPr>
      </p:pic>
      <p:sp>
        <p:nvSpPr>
          <p:cNvPr id="14" name="Текстовое поле 13"/>
          <p:cNvSpPr txBox="1"/>
          <p:nvPr/>
        </p:nvSpPr>
        <p:spPr>
          <a:xfrm>
            <a:off x="280035" y="3314065"/>
            <a:ext cx="4908550" cy="30670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«Диаграмма вариантов использования»</a:t>
            </a:r>
            <a:endParaRPr lang="ru-RU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</p:txBody>
      </p:sp>
      <p:pic>
        <p:nvPicPr>
          <p:cNvPr id="5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145" y="1084580"/>
            <a:ext cx="2159000" cy="456438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9813290" y="5619750"/>
            <a:ext cx="2378710" cy="40449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«Дерево функциий»</a:t>
            </a:r>
            <a:endParaRPr lang="ru-RU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</p:txBody>
      </p:sp>
      <p:pic>
        <p:nvPicPr>
          <p:cNvPr id="12" name="Изображение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85" y="3717925"/>
            <a:ext cx="6535420" cy="2147570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85" y="5962650"/>
            <a:ext cx="5943600" cy="77089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6141085" y="6024245"/>
            <a:ext cx="1979295" cy="63436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«Т</a:t>
            </a:r>
            <a:r>
              <a:rPr lang="en-US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аблица</a:t>
            </a:r>
            <a:r>
              <a:rPr lang="en-US" alt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 </a:t>
            </a:r>
            <a:r>
              <a:rPr lang="en-US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входных</a:t>
            </a:r>
            <a:r>
              <a:rPr lang="en-US" alt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 </a:t>
            </a:r>
            <a:r>
              <a:rPr lang="en-US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выходных</a:t>
            </a:r>
            <a:r>
              <a:rPr lang="en-US" alt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 </a:t>
            </a:r>
            <a:r>
              <a:rPr lang="en-US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данных</a:t>
            </a:r>
            <a:r>
              <a:rPr lang="ru-RU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»</a:t>
            </a:r>
            <a:endParaRPr lang="ru-RU" altLang="en-US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</p:txBody>
      </p:sp>
      <p:pic>
        <p:nvPicPr>
          <p:cNvPr id="6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6225" y="1057910"/>
            <a:ext cx="4453255" cy="259397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7200900" y="3651885"/>
            <a:ext cx="1979295" cy="363220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«Органиограмма»</a:t>
            </a:r>
            <a:endParaRPr lang="ru-RU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11281410" y="248920"/>
            <a:ext cx="546100" cy="505460"/>
            <a:chOff x="17766" y="392"/>
            <a:chExt cx="860" cy="796"/>
          </a:xfrm>
        </p:grpSpPr>
        <p:sp>
          <p:nvSpPr>
            <p:cNvPr id="9" name="Блок-схема: альтернативный процесс 8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15" name="Изображение 14" descr="6351305">
              <a:hlinkClick r:id="rId6" action="ppaction://hlinksldjump"/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30520" y="0"/>
            <a:ext cx="1331595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UML</a:t>
            </a:r>
            <a:endParaRPr lang="en-US" alt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765" y="894715"/>
            <a:ext cx="6047105" cy="5849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79190" y="0"/>
            <a:ext cx="483362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ER-</a:t>
            </a:r>
            <a:r>
              <a:rPr lang="ru-RU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модель базы данных</a:t>
            </a:r>
            <a:endParaRPr lang="ru-RU" alt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3" name="Рисунок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170" y="755015"/>
            <a:ext cx="8963025" cy="610298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227830" y="0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483362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Запросы к базе данных</a:t>
            </a:r>
            <a:endParaRPr 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57480" y="755650"/>
            <a:ext cx="4052570" cy="40532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50000"/>
              </a:lnSpc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1) GROUP BY</a:t>
            </a:r>
            <a:r>
              <a:rPr 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 (Группировка)</a:t>
            </a:r>
            <a:endParaRPr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  <a:p>
            <a:pPr defTabSz="266700">
              <a:lnSpc>
                <a:spcPct val="150000"/>
              </a:lnSpc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</a:rPr>
              <a:t>Группирует строки по test_id и считает количество вопросов для каждого теста.</a:t>
            </a:r>
            <a:endParaRPr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SELECT test_id, COUNT(*) AS total_questions</a:t>
            </a:r>
            <a:endParaRPr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FROM questions</a:t>
            </a:r>
            <a:endParaRPr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GROUP BY test_id;</a:t>
            </a:r>
            <a:endParaRPr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pic>
        <p:nvPicPr>
          <p:cNvPr id="29032934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3938905"/>
            <a:ext cx="2789555" cy="179260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268335" y="635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4321810" y="755650"/>
            <a:ext cx="3935730" cy="40532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14000"/>
              </a:lnSpc>
            </a:pP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  <a:sym typeface="+mn-ea"/>
              </a:rPr>
              <a:t>2) Показать тесты вместе с количеством вопросов в каждом.</a:t>
            </a:r>
            <a:endParaRPr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  <a:sym typeface="+mn-ea"/>
            </a:endParaRPr>
          </a:p>
          <a:p>
            <a:pPr defTabSz="266700">
              <a:lnSpc>
                <a:spcPct val="114000"/>
              </a:lnSpc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  <a:sym typeface="+mn-ea"/>
              </a:rPr>
              <a:t>(</a:t>
            </a:r>
            <a:r>
              <a:rPr 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  <a:sym typeface="+mn-ea"/>
              </a:rPr>
              <a:t>Подзапрос</a:t>
            </a: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anose="020F0502020204030204"/>
                <a:cs typeface="+mn-lt"/>
                <a:sym typeface="+mn-ea"/>
              </a:rPr>
              <a:t>)</a:t>
            </a:r>
            <a:endParaRPr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/>
              <a:cs typeface="+mn-lt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SELECT 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    t.id,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    t.title,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    (SELECT COUNT(*) 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     FROM questions q 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     WHERE q.test_id = t.id) AS total_questions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FROM tests t;</a:t>
            </a:r>
            <a:endParaRPr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</p:txBody>
      </p:sp>
      <p:pic>
        <p:nvPicPr>
          <p:cNvPr id="895812156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255" y="4110990"/>
            <a:ext cx="2998470" cy="248031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8369300" y="755650"/>
            <a:ext cx="3726815" cy="369443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14000"/>
              </a:lnSpc>
            </a:pPr>
            <a:r>
              <a:rPr 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3) </a:t>
            </a:r>
            <a:r>
              <a: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Выбрать список всех тестов вместе с именем пользователя, который создал тест.</a:t>
            </a:r>
            <a:endParaRPr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14000"/>
              </a:lnSpc>
            </a:pPr>
            <a:r>
              <a:rPr 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(Соединение таблиц)</a:t>
            </a:r>
            <a:endParaRPr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SELECT t.id AS test_id, t.title AS test_title, u.username AS author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FROM tests t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INNER JOIN users u ON t.created_by = u.id;</a:t>
            </a:r>
            <a:endParaRPr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pic>
        <p:nvPicPr>
          <p:cNvPr id="83654028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920" y="3938905"/>
            <a:ext cx="2693670" cy="254317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7" name="Блок-схема: альтернативный процесс 6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11" name="Изображение 10" descr="6351305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227830" y="0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5944235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Хранимые функции/процедуры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57480" y="755650"/>
            <a:ext cx="4052570" cy="40532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1)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Возвращает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количество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опубликованных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тестов</a:t>
            </a: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(функция)</a:t>
            </a:r>
            <a:endParaRPr lang="en-US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CREATE FUNCTION `GetPublishedTestCount` ()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RETURNS INT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DETERMINISTIC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BEGIN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DECLARE total INT;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SELECT COUNT(*) INTO total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FROM tests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WHERE is_published = 1;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RETURN total;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END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268335" y="635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4321810" y="755650"/>
            <a:ext cx="3935730" cy="40532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2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)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Возвращает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количество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попыток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пользователя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пройти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тест</a:t>
            </a: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(функция)</a:t>
            </a:r>
            <a:endParaRPr lang="en-US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CREATE DEFINER=`root`@`localhost` FUNCTION `GetUserAttemptCount`(userId INT, testId INT) RETURNS int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DETERMINISTIC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BEGIN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DECLARE attempts INT;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SELECT COUNT(*) INTO attempts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FROM test_sessions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WHERE user_id = userId AND test_id = testId;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RETURN attempts;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END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369300" y="755650"/>
            <a:ext cx="3726815" cy="369443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00000"/>
              </a:lnSpc>
            </a:pP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1)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Выводит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всех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активных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пользователей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.</a:t>
            </a: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(процедура)</a:t>
            </a:r>
            <a:endParaRPr lang="en-US" altLang="ru-RU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REATE DEFINER=`root`@`localhost` PROCEDURE `GetActiveUsers`()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BEGIN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	SELECT id, username, email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FROM users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WHERE is_active = 1;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END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pic>
        <p:nvPicPr>
          <p:cNvPr id="1813443659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85" y="5266055"/>
            <a:ext cx="3464560" cy="704215"/>
          </a:xfrm>
          <a:prstGeom prst="rect">
            <a:avLst/>
          </a:prstGeom>
        </p:spPr>
      </p:pic>
      <p:pic>
        <p:nvPicPr>
          <p:cNvPr id="1320117468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45" y="5970270"/>
            <a:ext cx="2639060" cy="639445"/>
          </a:xfrm>
          <a:prstGeom prst="rect">
            <a:avLst/>
          </a:prstGeom>
        </p:spPr>
      </p:pic>
      <p:pic>
        <p:nvPicPr>
          <p:cNvPr id="413575647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55" y="3914140"/>
            <a:ext cx="3303905" cy="166941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7" name="Блок-схема: альтернативный процесс 6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11" name="Изображение 10" descr="6351305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227830" y="0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259842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Триггеры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57480" y="755650"/>
            <a:ext cx="4052570" cy="40532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1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)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Логирует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появление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нового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пользователя</a:t>
            </a:r>
            <a:endParaRPr lang="en-US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CREATE DEFINER=`root`@`localhost` TRIGGER `users_AFTER_INSERT` AFTER INSERT ON `users` FOR EACH ROW BEGIN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	INSERT INTO user_activity_log(user_id, action)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VALUES (NEW.id, 'USER_CREATED');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END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268335" y="635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4321810" y="755650"/>
            <a:ext cx="3935730" cy="405320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2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)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Логирует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удаление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пользователя</a:t>
            </a:r>
            <a:endParaRPr lang="en-US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CREATE DEFINER=`root`@`localhost` TRIGGER `users_AFTER_DELETE` AFTER DELETE ON `users` FOR EACH ROW BEGIN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	INSERT INTO user_activity_log(user_id, action)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    VALUES (OLD.id, 'USER_DELETE');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END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369300" y="755650"/>
            <a:ext cx="3726815" cy="369443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00000"/>
              </a:lnSpc>
            </a:pP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3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)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Логирует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изменения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 </a:t>
            </a:r>
            <a:r>
              <a:rPr lang="en-US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пользователя</a:t>
            </a:r>
            <a:endParaRPr lang="en-US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CREATE DEFINER=`root`@`localhost` TRIGGER `users_AFTER_UPDATE` AFTER UPDATE ON `users` FOR EACH ROW BEGIN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	INSERT INTO user_activity_log(user_id, action)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VALUES (NEW.ID, 'USER_UPDATE');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END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pic>
        <p:nvPicPr>
          <p:cNvPr id="190699199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80" y="5037455"/>
            <a:ext cx="3971290" cy="690245"/>
          </a:xfrm>
          <a:prstGeom prst="rect">
            <a:avLst/>
          </a:prstGeom>
        </p:spPr>
      </p:pic>
      <p:pic>
        <p:nvPicPr>
          <p:cNvPr id="1337993105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220" y="4384040"/>
            <a:ext cx="3717925" cy="899795"/>
          </a:xfrm>
          <a:prstGeom prst="rect">
            <a:avLst/>
          </a:prstGeom>
        </p:spPr>
      </p:pic>
      <p:pic>
        <p:nvPicPr>
          <p:cNvPr id="918687604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715" y="4627245"/>
            <a:ext cx="3181985" cy="88074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09985" y="135255"/>
            <a:ext cx="546100" cy="505460"/>
            <a:chOff x="17766" y="392"/>
            <a:chExt cx="860" cy="796"/>
          </a:xfrm>
        </p:grpSpPr>
        <p:sp>
          <p:nvSpPr>
            <p:cNvPr id="7" name="Блок-схема: альтернативный процесс 6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11" name="Изображение 10" descr="6351305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057900" y="635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43070" y="0"/>
            <a:ext cx="370586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Пользователи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35" y="755650"/>
            <a:ext cx="6057900" cy="47307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Студент</a:t>
            </a:r>
            <a:endParaRPr lang="en-US" altLang="en-US" sz="2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endParaRPr lang="en-US" altLang="ru-RU" sz="2400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134735" y="755650"/>
            <a:ext cx="6057265" cy="473710"/>
          </a:xfrm>
          <a:prstGeom prst="rect">
            <a:avLst/>
          </a:prstGeom>
        </p:spPr>
        <p:txBody>
          <a:bodyPr wrap="square">
            <a:noAutofit/>
          </a:bodyPr>
          <a:p>
            <a:pPr algn="ctr" defTabSz="266700">
              <a:lnSpc>
                <a:spcPct val="100000"/>
              </a:lnSpc>
            </a:pPr>
            <a:r>
              <a:rPr lang="ru-RU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Модератор</a:t>
            </a:r>
            <a:endParaRPr lang="ru-RU" sz="2400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pic>
        <p:nvPicPr>
          <p:cNvPr id="184615434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2070" y="2576830"/>
            <a:ext cx="5307965" cy="2162810"/>
          </a:xfrm>
          <a:prstGeom prst="rect">
            <a:avLst/>
          </a:prstGeom>
        </p:spPr>
      </p:pic>
      <p:pic>
        <p:nvPicPr>
          <p:cNvPr id="117433876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35" y="2370455"/>
            <a:ext cx="5446395" cy="214058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635" y="1228725"/>
            <a:ext cx="6057900" cy="968375"/>
          </a:xfrm>
          <a:prstGeom prst="rect">
            <a:avLst/>
          </a:prstGeom>
        </p:spPr>
        <p:txBody>
          <a:bodyPr>
            <a:noAutofit/>
          </a:bodyPr>
          <a:p>
            <a:pPr algn="l" defTabSz="266700">
              <a:lnSpc>
                <a:spcPct val="100000"/>
              </a:lnSpc>
            </a:pPr>
            <a:r>
              <a:rPr lang="ru-RU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У студента нет никаких прав на изменение, удаление или добавление записей.</a:t>
            </a:r>
            <a:endParaRPr lang="en-US" alt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endParaRPr lang="en-US" altLang="ru-RU" sz="2400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143635" y="4511040"/>
            <a:ext cx="3771900" cy="384175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sz="1600">
                <a:solidFill>
                  <a:schemeClr val="bg1"/>
                </a:solidFill>
                <a:effectLst/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«Ошибка при попытке удалить запись»</a:t>
            </a:r>
            <a:endParaRPr lang="ru-RU" sz="1600">
              <a:solidFill>
                <a:schemeClr val="bg1"/>
              </a:solidFill>
              <a:effectLst/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7176135" y="4739640"/>
            <a:ext cx="3771900" cy="574040"/>
          </a:xfrm>
          <a:prstGeom prst="rect">
            <a:avLst/>
          </a:prstGeom>
        </p:spPr>
        <p:txBody>
          <a:bodyPr>
            <a:noAutofit/>
          </a:bodyPr>
          <a:p>
            <a:pPr algn="ctr" defTabSz="266700">
              <a:lnSpc>
                <a:spcPct val="100000"/>
              </a:lnSpc>
            </a:pPr>
            <a:r>
              <a:rPr lang="ru-RU" sz="1600">
                <a:solidFill>
                  <a:schemeClr val="bg1"/>
                </a:solidFill>
                <a:effectLst/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«Ошибка при попытке удалить пользователя»</a:t>
            </a:r>
            <a:endParaRPr lang="ru-RU" sz="1600">
              <a:solidFill>
                <a:schemeClr val="bg1"/>
              </a:solidFill>
              <a:effectLst/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6133465" y="1228725"/>
            <a:ext cx="6057900" cy="1142365"/>
          </a:xfrm>
          <a:prstGeom prst="rect">
            <a:avLst/>
          </a:prstGeom>
        </p:spPr>
        <p:txBody>
          <a:bodyPr>
            <a:noAutofit/>
          </a:bodyPr>
          <a:p>
            <a:pPr algn="l" defTabSz="266700">
              <a:lnSpc>
                <a:spcPct val="100000"/>
              </a:lnSpc>
            </a:pPr>
            <a:r>
              <a:rPr lang="ru-RU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У модератора есть права на изменение, удаление и редактирование любых таблиц, кроме </a:t>
            </a:r>
            <a:r>
              <a:rPr lang="en-US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users</a:t>
            </a:r>
            <a:endParaRPr lang="en-US" altLang="en-US" sz="24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endParaRPr lang="en-US" altLang="ru-RU" sz="2400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7" name="Блок-схема: альтернативный процесс 6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9" name="Изображение 8" descr="6351305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31920" y="0"/>
            <a:ext cx="432816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Графовая база данных</a:t>
            </a:r>
            <a:endParaRPr lang="ru-RU" alt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41" name="Рисунок 41"/>
          <p:cNvPicPr>
            <a:picLocks noChangeAspect="1"/>
          </p:cNvPicPr>
          <p:nvPr/>
        </p:nvPicPr>
        <p:blipFill>
          <a:blip r:embed="rId1"/>
          <a:srcRect r="16102"/>
          <a:stretch>
            <a:fillRect/>
          </a:stretch>
        </p:blipFill>
        <p:spPr>
          <a:xfrm>
            <a:off x="1136650" y="756285"/>
            <a:ext cx="9918700" cy="6101715"/>
          </a:xfrm>
          <a:prstGeom prst="rect">
            <a:avLst/>
          </a:prstGeom>
          <a:ln>
            <a:noFill/>
          </a:ln>
        </p:spPr>
      </p:pic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227830" y="0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629412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Запросы к графовой базе данных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57480" y="755650"/>
            <a:ext cx="4052570" cy="115379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1)</a:t>
            </a: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Вывод таблицы ролей</a:t>
            </a:r>
            <a:endParaRPr lang="en-US" altLang="ru-RU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MATCH (r:Role)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RETURN r.name AS Name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268335" y="635"/>
            <a:ext cx="76200" cy="68573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4321810" y="755650"/>
            <a:ext cx="3935730" cy="1769745"/>
          </a:xfrm>
          <a:prstGeom prst="rect">
            <a:avLst/>
          </a:prstGeom>
        </p:spPr>
        <p:txBody>
          <a:bodyPr>
            <a:noAutofit/>
          </a:bodyPr>
          <a:p>
            <a:pPr defTabSz="266700">
              <a:lnSpc>
                <a:spcPct val="100000"/>
              </a:lnSpc>
            </a:pP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2)</a:t>
            </a: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Вывод пользователя и его роли</a:t>
            </a: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 </a:t>
            </a:r>
            <a:endParaRPr lang="en-US" altLang="ru-RU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MATCH (u:User)-[:HAS_ROLE]-&gt;(r:Role)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effectLst/>
                <a:latin typeface="Consolas" panose="020B0609020204030204" charset="0"/>
                <a:ea typeface="Calibri" panose="020F0502020204030204"/>
                <a:cs typeface="Consolas" panose="020B0609020204030204" charset="0"/>
                <a:sym typeface="+mn-ea"/>
              </a:rPr>
              <a:t>RETURN u.username AS Login, r.name AS Role</a:t>
            </a:r>
            <a:endParaRPr lang="en-US" altLang="ru-RU">
              <a:solidFill>
                <a:schemeClr val="bg1"/>
              </a:solidFill>
              <a:effectLst/>
              <a:latin typeface="Consolas" panose="020B0609020204030204" charset="0"/>
              <a:ea typeface="Calibri" panose="020F0502020204030204"/>
              <a:cs typeface="Consolas" panose="020B0609020204030204" charset="0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369300" y="755650"/>
            <a:ext cx="3726815" cy="369443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00000"/>
              </a:lnSpc>
            </a:pPr>
            <a:r>
              <a:rPr lang="en-US" altLang="ru-RU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2)</a:t>
            </a:r>
            <a:r>
              <a:rPr lang="ru-RU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Вывод таблицы пользователей</a:t>
            </a:r>
            <a:endParaRPr lang="en-US" altLang="ru-RU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MATCH (u:User)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OPTIONAL MATCH (u)-[:HAS_ROLE]-&gt;(r:Role)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RETURN u.username AS username, 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   u.email AS email, 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   u.firstName AS first_name, 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   u.lastName AS last_name, 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  <a:p>
            <a:pPr defTabSz="266700">
              <a:lnSpc>
                <a:spcPct val="100000"/>
              </a:lnSpc>
            </a:pP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       coalesce(r.name, "</a:t>
            </a:r>
            <a:r>
              <a:rPr lang="en-US" altLang="en-US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Студент</a:t>
            </a:r>
            <a:r>
              <a:rPr lang="en-US" altLang="ru-RU">
                <a:solidFill>
                  <a:schemeClr val="bg1"/>
                </a:solidFill>
                <a:latin typeface="Consolas" panose="020B0609020204030204" charset="0"/>
                <a:ea typeface="Calibri" panose="020F0502020204030204"/>
                <a:cs typeface="Consolas" panose="020B0609020204030204" charset="0"/>
              </a:rPr>
              <a:t>") AS role</a:t>
            </a:r>
            <a:endParaRPr lang="en-US" altLang="ru-RU">
              <a:solidFill>
                <a:schemeClr val="bg1"/>
              </a:solidFill>
              <a:latin typeface="Consolas" panose="020B0609020204030204" charset="0"/>
              <a:ea typeface="Calibri" panose="020F0502020204030204"/>
              <a:cs typeface="Consolas" panose="020B0609020204030204" charset="0"/>
            </a:endParaRPr>
          </a:p>
        </p:txBody>
      </p:sp>
      <p:pic>
        <p:nvPicPr>
          <p:cNvPr id="37" name="Рисунок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3910"/>
            <a:ext cx="2903855" cy="3346450"/>
          </a:xfrm>
          <a:prstGeom prst="rect">
            <a:avLst/>
          </a:prstGeom>
        </p:spPr>
      </p:pic>
      <p:pic>
        <p:nvPicPr>
          <p:cNvPr id="44" name="Рисунок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010" y="2869565"/>
            <a:ext cx="3776345" cy="1120140"/>
          </a:xfrm>
          <a:prstGeom prst="rect">
            <a:avLst/>
          </a:prstGeom>
        </p:spPr>
      </p:pic>
      <p:pic>
        <p:nvPicPr>
          <p:cNvPr id="38" name="Рисунок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515" y="4709795"/>
            <a:ext cx="3648075" cy="1640840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77295" y="133350"/>
            <a:ext cx="546100" cy="505460"/>
            <a:chOff x="17766" y="392"/>
            <a:chExt cx="860" cy="796"/>
          </a:xfrm>
        </p:grpSpPr>
        <p:sp>
          <p:nvSpPr>
            <p:cNvPr id="7" name="Блок-схема: альтернативный процесс 6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11" name="Изображение 10" descr="6351305">
              <a:hlinkClick r:id="rId4" action="ppaction://hlinksldjump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5104130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Создание визуализаций (1)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13" name="Рисунок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70" y="888365"/>
            <a:ext cx="5370830" cy="382651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828675" y="4695190"/>
            <a:ext cx="4426585" cy="61722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Результаты тестирований в зависимости от даты окончания тестирований</a:t>
            </a:r>
            <a:endParaRPr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</p:txBody>
      </p:sp>
      <p:pic>
        <p:nvPicPr>
          <p:cNvPr id="15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888365"/>
            <a:ext cx="5414645" cy="3806825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6679565" y="4695190"/>
            <a:ext cx="4426585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Результаты тестов по пользователям</a:t>
            </a:r>
            <a:endParaRPr lang="ru-RU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1368405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5084445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Создание визуализаций (2)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28675" y="4695190"/>
            <a:ext cx="4426585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Сессии тестирования</a:t>
            </a:r>
            <a:endParaRPr lang="ru-RU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679565" y="4695190"/>
            <a:ext cx="4426585" cy="354330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>
              <a:lnSpc>
                <a:spcPct val="107000"/>
              </a:lnSpc>
            </a:pPr>
            <a:r>
              <a: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/>
                <a:cs typeface="Calibri" panose="020F0502020204030204" charset="0"/>
              </a:rPr>
              <a:t>Средний результат в зависимости от теста</a:t>
            </a:r>
            <a:endParaRPr lang="ru-RU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/>
              <a:cs typeface="Calibri" panose="020F0502020204030204" charset="0"/>
            </a:endParaRPr>
          </a:p>
        </p:txBody>
      </p:sp>
      <p:pic>
        <p:nvPicPr>
          <p:cNvPr id="16" name="Рисунок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888365"/>
            <a:ext cx="5414010" cy="3807460"/>
          </a:xfrm>
          <a:prstGeom prst="rect">
            <a:avLst/>
          </a:prstGeom>
        </p:spPr>
      </p:pic>
      <p:pic>
        <p:nvPicPr>
          <p:cNvPr id="17" name="Рисунок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460" y="886460"/>
            <a:ext cx="5413375" cy="3808730"/>
          </a:xfrm>
          <a:prstGeom prst="rect">
            <a:avLst/>
          </a:prstGeom>
        </p:spPr>
      </p:pic>
      <p:grpSp>
        <p:nvGrpSpPr>
          <p:cNvPr id="3" name="Группа 2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4975225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Создание дашборда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33" name="Рисунок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775" y="984250"/>
            <a:ext cx="11474450" cy="5334000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15700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2" action="ppaction://hlinksldjump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5" y="0"/>
            <a:ext cx="6839585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en-US" sz="3200" b="1" dirty="0" smtClean="0">
                <a:solidFill>
                  <a:schemeClr val="bg1"/>
                </a:solidFill>
                <a:latin typeface="+mn-lt"/>
                <a:cs typeface="+mn-lt"/>
              </a:rPr>
              <a:t>Работа с параметрами и расчетами</a:t>
            </a:r>
            <a:endParaRPr lang="ru-RU" altLang="en-US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3" name="Заголовок 1"/>
          <p:cNvSpPr>
            <a:spLocks noGrp="1"/>
          </p:cNvSpPr>
          <p:nvPr/>
        </p:nvSpPr>
        <p:spPr>
          <a:xfrm>
            <a:off x="127635" y="960755"/>
            <a:ext cx="3107690" cy="755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altLang="en-US" sz="2400" b="1" dirty="0" smtClean="0">
                <a:solidFill>
                  <a:schemeClr val="bg1"/>
                </a:solidFill>
                <a:latin typeface="+mn-lt"/>
                <a:cs typeface="+mn-lt"/>
              </a:rPr>
              <a:t>Вычисляемые поля</a:t>
            </a:r>
            <a:r>
              <a:rPr lang="en-US" altLang="en-US" sz="2400" b="1" dirty="0" smtClean="0">
                <a:solidFill>
                  <a:schemeClr val="bg1"/>
                </a:solidFill>
                <a:latin typeface="+mn-lt"/>
                <a:cs typeface="+mn-lt"/>
              </a:rPr>
              <a:t>:</a:t>
            </a:r>
            <a:endParaRPr lang="en-US" altLang="en-US" sz="24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20" name="Рисунок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710" y="2000885"/>
            <a:ext cx="4141470" cy="377825"/>
          </a:xfrm>
          <a:prstGeom prst="rect">
            <a:avLst/>
          </a:prstGeom>
        </p:spPr>
      </p:pic>
      <p:sp>
        <p:nvSpPr>
          <p:cNvPr id="4" name="Заголовок 1"/>
          <p:cNvSpPr>
            <a:spLocks noGrp="1"/>
          </p:cNvSpPr>
          <p:nvPr/>
        </p:nvSpPr>
        <p:spPr>
          <a:xfrm>
            <a:off x="194945" y="1716405"/>
            <a:ext cx="3348355" cy="755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lt"/>
              </a:rPr>
              <a:t>percent_of_total_time - </a:t>
            </a:r>
            <a:endParaRPr lang="en-US" sz="24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30" name="Рисунок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45" y="2648585"/>
            <a:ext cx="6071235" cy="269240"/>
          </a:xfrm>
          <a:prstGeom prst="rect">
            <a:avLst/>
          </a:prstGeom>
        </p:spPr>
      </p:pic>
      <p:sp>
        <p:nvSpPr>
          <p:cNvPr id="5" name="Заголовок 1"/>
          <p:cNvSpPr>
            <a:spLocks noGrp="1"/>
          </p:cNvSpPr>
          <p:nvPr/>
        </p:nvSpPr>
        <p:spPr>
          <a:xfrm>
            <a:off x="194945" y="2472055"/>
            <a:ext cx="1422400" cy="445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lt"/>
              </a:rPr>
              <a:t>grade - </a:t>
            </a:r>
            <a:endParaRPr lang="en-US" sz="24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31" name="Рисунок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385" y="3132455"/>
            <a:ext cx="3575050" cy="422275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/>
        </p:nvSpPr>
        <p:spPr>
          <a:xfrm>
            <a:off x="194945" y="3045460"/>
            <a:ext cx="1422400" cy="445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400" b="1" dirty="0" smtClean="0">
                <a:solidFill>
                  <a:schemeClr val="bg1"/>
                </a:solidFill>
                <a:latin typeface="+mn-lt"/>
                <a:cs typeface="+mn-lt"/>
              </a:rPr>
              <a:t>weekday- </a:t>
            </a:r>
            <a:endParaRPr lang="en-US" sz="24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715" y="4215130"/>
            <a:ext cx="6591935" cy="1820545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9" name="Блок-схема: альтернативный процесс 8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11" name="Изображение 10" descr="6351305">
              <a:hlinkClick r:id="rId5" action="ppaction://hlinksldjump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35" y="0"/>
            <a:ext cx="12190730" cy="755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05045" y="0"/>
            <a:ext cx="2581275" cy="7556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ru-RU" altLang="ru-RU" sz="3200" b="1" dirty="0" smtClean="0">
                <a:solidFill>
                  <a:schemeClr val="bg1"/>
                </a:solidFill>
                <a:latin typeface="+mn-lt"/>
                <a:cs typeface="+mn-lt"/>
              </a:rPr>
              <a:t>Заключение</a:t>
            </a:r>
            <a:endParaRPr lang="ru-RU" altLang="ru-RU" sz="3200" b="1" dirty="0" smtClean="0">
              <a:solidFill>
                <a:schemeClr val="bg1"/>
              </a:solidFill>
              <a:latin typeface="+mn-lt"/>
              <a:cs typeface="+mn-lt"/>
            </a:endParaRPr>
          </a:p>
        </p:txBody>
      </p:sp>
      <p:sp>
        <p:nvSpPr>
          <p:cNvPr id="9" name="Заголовок 1"/>
          <p:cNvSpPr>
            <a:spLocks noGrp="1"/>
          </p:cNvSpPr>
          <p:nvPr/>
        </p:nvSpPr>
        <p:spPr>
          <a:xfrm>
            <a:off x="1786255" y="1554480"/>
            <a:ext cx="8618855" cy="3175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lnSpc>
                <a:spcPct val="150000"/>
              </a:lnSpc>
              <a:buNone/>
            </a:pPr>
            <a:r>
              <a:rPr lang="ru-RU" altLang="ru-RU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Спроектирована база данных для автоматизированной системы тестирования, которая обеспечивает м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инимизацию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ошибок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при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проверке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ответов</a:t>
            </a:r>
            <a:r>
              <a:rPr lang="ru-RU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, п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овышение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качества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обучения</a:t>
            </a:r>
            <a:r>
              <a:rPr lang="ru-RU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, п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розрачность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учебного</a:t>
            </a:r>
            <a:r>
              <a:rPr lang="en-US" alt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lang="en-US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cs typeface="Calibri" panose="020F0502020204030204" charset="0"/>
                <a:sym typeface="+mn-ea"/>
              </a:rPr>
              <a:t>процесса</a:t>
            </a:r>
            <a:endParaRPr lang="ru-RU" altLang="ru-RU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0" name="Группа 9"/>
          <p:cNvGrpSpPr/>
          <p:nvPr/>
        </p:nvGrpSpPr>
        <p:grpSpPr>
          <a:xfrm>
            <a:off x="11309985" y="133350"/>
            <a:ext cx="546100" cy="505460"/>
            <a:chOff x="17766" y="392"/>
            <a:chExt cx="860" cy="796"/>
          </a:xfrm>
        </p:grpSpPr>
        <p:sp>
          <p:nvSpPr>
            <p:cNvPr id="4" name="Блок-схема: альтернативный процесс 3"/>
            <p:cNvSpPr/>
            <p:nvPr/>
          </p:nvSpPr>
          <p:spPr>
            <a:xfrm>
              <a:off x="17766" y="392"/>
              <a:ext cx="860" cy="797"/>
            </a:xfrm>
            <a:prstGeom prst="flowChartAlternateProcess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 altLang="en-US"/>
            </a:p>
          </p:txBody>
        </p:sp>
        <p:pic>
          <p:nvPicPr>
            <p:cNvPr id="6" name="Изображение 5" descr="6351305">
              <a:hlinkClick r:id="rId1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11" y="392"/>
              <a:ext cx="770" cy="77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/>
        </p:nvSpPr>
        <p:spPr>
          <a:xfrm>
            <a:off x="1786255" y="1903730"/>
            <a:ext cx="8618855" cy="21450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+mn-lt"/>
              </a:rPr>
              <a:t>Спасибо за внимание</a:t>
            </a:r>
            <a:endParaRPr lang="ru-RU" sz="28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4576</Words>
  <Application>WPS Presentation</Application>
  <PresentationFormat>Широкоэкранный</PresentationFormat>
  <Paragraphs>217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Fraunces Extra Bold</vt:lpstr>
      <vt:lpstr>Nobile</vt:lpstr>
      <vt:lpstr>Calibri</vt:lpstr>
      <vt:lpstr>Consolas</vt:lpstr>
      <vt:lpstr>Calibri</vt:lpstr>
      <vt:lpstr>Microsoft YaHei</vt:lpstr>
      <vt:lpstr>Arial Unicode MS</vt:lpstr>
      <vt:lpstr>Calibri Light</vt:lpstr>
      <vt:lpstr>Тема Office</vt:lpstr>
      <vt:lpstr>Ликино-Дулевский политехнический колледж – филиал ГОУ  ВО МО Государственное образовательное учреждение высшего образования Московской области</vt:lpstr>
      <vt:lpstr>Оглавление </vt:lpstr>
      <vt:lpstr>Постановка задачи</vt:lpstr>
      <vt:lpstr>Функциональный анализ</vt:lpstr>
      <vt:lpstr>UML</vt:lpstr>
      <vt:lpstr>ER-модель базы данных</vt:lpstr>
      <vt:lpstr>Запросы к базе данных</vt:lpstr>
      <vt:lpstr>Хранимые функции/процедуры</vt:lpstr>
      <vt:lpstr>Триггеры</vt:lpstr>
      <vt:lpstr>Пользователи</vt:lpstr>
      <vt:lpstr>Графовая база данных</vt:lpstr>
      <vt:lpstr>Запросы к графовой базе данных</vt:lpstr>
      <vt:lpstr>Создание визуализаций (1)</vt:lpstr>
      <vt:lpstr>Создание визуализаций (2)</vt:lpstr>
      <vt:lpstr>Создание дашборда</vt:lpstr>
      <vt:lpstr>Работа с параметрами и расчетами</vt:lpstr>
      <vt:lpstr>Заключение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Ликино-Дулевский политехнический колледж – филиал ГОУ  ВО МО Государственное образовательное учреждение высшего образования Московской области</dc:title>
  <dc:creator>Студент</dc:creator>
  <cp:lastModifiedBy>Дмитрий</cp:lastModifiedBy>
  <cp:revision>106</cp:revision>
  <dcterms:created xsi:type="dcterms:W3CDTF">2026-04-21T13:47:00Z</dcterms:created>
  <dcterms:modified xsi:type="dcterms:W3CDTF">2026-04-26T09:02:57Z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901B11E3B9094C7AAACFEAE3A6594197_12</vt:lpwstr>
  </property>
  <property fmtid="{D5CDD505-2E9C-101B-9397-08002B2CF9AE}" pid="3" name="KSOProductBuildVer">
    <vt:lpwstr>1049-12.2.0.23202</vt:lpwstr>
  </property>
</Properties>
</file>